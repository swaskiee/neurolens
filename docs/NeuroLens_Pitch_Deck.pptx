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8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3327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400" b="1">
                <a:solidFill>
                  <a:srgbClr val="FFFFFF"/>
                </a:solidFill>
              </a:defRPr>
            </a:pPr>
            <a:r>
              <a:t>NeuroLens</a:t>
            </a:r>
          </a:p>
          <a:p>
            <a:pPr>
              <a:spcBef>
                <a:spcPts val="1000"/>
              </a:spcBef>
              <a:defRPr sz="2400">
                <a:solidFill>
                  <a:srgbClr val="027AFF"/>
                </a:solidFill>
              </a:defRPr>
            </a:pPr>
            <a:r>
              <a:t>Private, Real-Time AI for Cognitive Accessibility</a:t>
            </a:r>
          </a:p>
          <a:p>
            <a:pPr>
              <a:spcBef>
                <a:spcPts val="1400"/>
              </a:spcBef>
              <a:defRPr sz="1600" i="1">
                <a:solidFill>
                  <a:srgbClr val="C8D2E1"/>
                </a:solidFill>
              </a:defRPr>
            </a:pPr>
            <a:r>
              <a:t>"Understand the moment. Organize the thought. Keep everything private."</a:t>
            </a:r>
          </a:p>
          <a:p>
            <a:pPr>
              <a:spcBef>
                <a:spcPts val="2400"/>
              </a:spcBef>
              <a:defRPr sz="1300" b="1">
                <a:solidFill>
                  <a:srgbClr val="E02020"/>
                </a:solidFill>
              </a:defRPr>
            </a:pPr>
            <a:r>
              <a:t>Snapdragon® AI Lab Build &amp; Present Challenge 2026 | Optimized for Snapdragon-Powered HP PCs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E02020"/>
                </a:solidFill>
              </a:defRPr>
            </a:pPr>
            <a:r>
              <a:t>NEUROLENS | SNAPDRAGON AI LAB 2026</a:t>
            </a:r>
          </a:p>
          <a:p>
            <a:pPr>
              <a:defRPr sz="2800" b="1">
                <a:solidFill>
                  <a:srgbClr val="101828"/>
                </a:solidFill>
              </a:defRPr>
            </a:pPr>
            <a:r>
              <a:t>Human Communication Is Fast. Understanding It Isn't Always.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200"/>
              </a:spcBef>
              <a:defRPr b="1" sz="1600">
                <a:solidFill>
                  <a:srgbClr val="101828"/>
                </a:solidFill>
              </a:defRPr>
            </a:pPr>
            <a:r>
              <a:t>• Cognitive Friction in Daily Conversations: </a:t>
            </a:r>
            <a:r>
              <a:rPr b="0">
                <a:solidFill>
                  <a:srgbClr val="475467"/>
                </a:solidFill>
              </a:rPr>
              <a:t>Subtle, indirect speech like 'It would probably be good if you revisited...' creates severe executive load for neurodivergent minds (ADHD, social processing challenges) and overwhelmed students.</a:t>
            </a:r>
          </a:p>
          <a:p>
            <a:pPr>
              <a:spcBef>
                <a:spcPts val="1200"/>
              </a:spcBef>
              <a:defRPr b="1" sz="1600">
                <a:solidFill>
                  <a:srgbClr val="101828"/>
                </a:solidFill>
              </a:defRPr>
            </a:pPr>
            <a:r>
              <a:t>• The Implicit-to-Action Gap: </a:t>
            </a:r>
            <a:r>
              <a:rPr b="0">
                <a:solidFill>
                  <a:srgbClr val="475467"/>
                </a:solidFill>
              </a:rPr>
              <a:t>Unstructured communication rarely delivers cleanly packaged task lists. Users spend massive mental energy disambiguating what is a real task vs. casual discussion.</a:t>
            </a:r>
          </a:p>
          <a:p>
            <a:pPr>
              <a:spcBef>
                <a:spcPts val="1200"/>
              </a:spcBef>
              <a:defRPr b="1" sz="1600">
                <a:solidFill>
                  <a:srgbClr val="101828"/>
                </a:solidFill>
              </a:defRPr>
            </a:pPr>
            <a:r>
              <a:t>• The Cloud Privacy Dilemma: </a:t>
            </a:r>
            <a:r>
              <a:rPr b="0">
                <a:solidFill>
                  <a:srgbClr val="475467"/>
                </a:solidFill>
              </a:rPr>
              <a:t>Sending daily conversations, lectures, and screen context to cloud LLMs creates unacceptable privacy, data governance, and compliance risks.</a:t>
            </a:r>
          </a:p>
          <a:p>
            <a:pPr>
              <a:spcBef>
                <a:spcPts val="1200"/>
              </a:spcBef>
              <a:defRPr b="1" sz="1600">
                <a:solidFill>
                  <a:srgbClr val="101828"/>
                </a:solidFill>
              </a:defRPr>
            </a:pPr>
            <a:r>
              <a:t>• The Need for On-Device Translation: </a:t>
            </a:r>
            <a:r>
              <a:rPr b="0">
                <a:solidFill>
                  <a:srgbClr val="475467"/>
                </a:solidFill>
              </a:rPr>
              <a:t>A private cognitive layer sitting between messy spoken/visual information and the user's brain—running 100% locally on the device.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E02020"/>
                </a:solidFill>
              </a:defRPr>
            </a:pPr>
            <a:r>
              <a:t>NEUROLENS | SNAPDRAGON AI LAB 2026</a:t>
            </a:r>
          </a:p>
          <a:p>
            <a:pPr>
              <a:defRPr sz="2800" b="1">
                <a:solidFill>
                  <a:srgbClr val="101828"/>
                </a:solidFill>
              </a:defRPr>
            </a:pPr>
            <a:r>
              <a:t>Why Existing Tools Fall Short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200"/>
              </a:spcBef>
              <a:defRPr b="1" sz="1600">
                <a:solidFill>
                  <a:srgbClr val="101828"/>
                </a:solidFill>
              </a:defRPr>
            </a:pPr>
            <a:r>
              <a:t>✖ Generic Transcription (Whisper APIs): </a:t>
            </a:r>
            <a:r>
              <a:rPr b="0">
                <a:solidFill>
                  <a:srgbClr val="475467"/>
                </a:solidFill>
              </a:rPr>
              <a:t>Dumps thousands of raw words without understanding. Increases cognitive load instead of reducing it.</a:t>
            </a:r>
          </a:p>
          <a:p>
            <a:pPr>
              <a:spcBef>
                <a:spcPts val="1200"/>
              </a:spcBef>
              <a:defRPr b="1" sz="1600">
                <a:solidFill>
                  <a:srgbClr val="101828"/>
                </a:solidFill>
              </a:defRPr>
            </a:pPr>
            <a:r>
              <a:t>✖ Cloud AI Chatbots (ChatGPT / Cloud Claude): </a:t>
            </a:r>
            <a:r>
              <a:rPr b="0">
                <a:solidFill>
                  <a:srgbClr val="475467"/>
                </a:solidFill>
              </a:rPr>
              <a:t>Leaks sensitive personal thoughts and workplace meetings to remote cloud infrastructure with recurring latency.</a:t>
            </a:r>
          </a:p>
          <a:p>
            <a:pPr>
              <a:spcBef>
                <a:spcPts val="1200"/>
              </a:spcBef>
              <a:defRPr b="1" sz="1600">
                <a:solidFill>
                  <a:srgbClr val="101828"/>
                </a:solidFill>
              </a:defRPr>
            </a:pPr>
            <a:r>
              <a:t>✖ Productivity Apps (Todoist / Notion): </a:t>
            </a:r>
            <a:r>
              <a:rPr b="0">
                <a:solidFill>
                  <a:srgbClr val="475467"/>
                </a:solidFill>
              </a:rPr>
              <a:t>Requires manual typing and tedious task breakdown. Fails to capture live verbal context at the moment of utterance.</a:t>
            </a:r>
          </a:p>
          <a:p>
            <a:pPr>
              <a:spcBef>
                <a:spcPts val="1200"/>
              </a:spcBef>
              <a:defRPr b="1" sz="1600">
                <a:solidFill>
                  <a:srgbClr val="101828"/>
                </a:solidFill>
              </a:defRPr>
            </a:pPr>
            <a:r>
              <a:t>✖ Hallucinatory AI Assistants: </a:t>
            </a:r>
            <a:r>
              <a:rPr b="0">
                <a:solidFill>
                  <a:srgbClr val="475467"/>
                </a:solidFill>
              </a:rPr>
              <a:t>Asserts false certainty about ambiguous intent instead of clearly stating what is unknown or asking for clarification.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E02020"/>
                </a:solidFill>
              </a:defRPr>
            </a:pPr>
            <a:r>
              <a:t>NEUROLENS | SNAPDRAGON AI LAB 2026</a:t>
            </a:r>
          </a:p>
          <a:p>
            <a:pPr>
              <a:defRPr sz="2800" b="1">
                <a:solidFill>
                  <a:srgbClr val="101828"/>
                </a:solidFill>
              </a:defRPr>
            </a:pPr>
            <a:r>
              <a:t>The Solution: NeuroLens Cognitive Compiler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01828"/>
                </a:solidFill>
              </a:defRPr>
            </a:pPr>
            <a:r>
              <a:t>NeuroLens is not a generic chatbot. It is a formal Cognitive Compiler:</a:t>
            </a:r>
          </a:p>
          <a:p>
            <a:pPr>
              <a:spcBef>
                <a:spcPts val="1000"/>
              </a:spcBef>
              <a:defRPr b="1" sz="1600">
                <a:solidFill>
                  <a:srgbClr val="027AFF"/>
                </a:solidFill>
              </a:defRPr>
            </a:pPr>
            <a:r>
              <a:t>► Parse: </a:t>
            </a:r>
            <a:r>
              <a:rPr b="0">
                <a:solidFill>
                  <a:srgbClr val="475467"/>
                </a:solidFill>
              </a:rPr>
              <a:t>Captures raw speech chunks via VAD and user-selected visual screen context.</a:t>
            </a:r>
          </a:p>
          <a:p>
            <a:pPr>
              <a:spcBef>
                <a:spcPts val="1000"/>
              </a:spcBef>
              <a:defRPr b="1" sz="1600">
                <a:solidFill>
                  <a:srgbClr val="027AFF"/>
                </a:solidFill>
              </a:defRPr>
            </a:pPr>
            <a:r>
              <a:t>► Disambiguate: </a:t>
            </a:r>
            <a:r>
              <a:rPr b="0">
                <a:solidFill>
                  <a:srgbClr val="475467"/>
                </a:solidFill>
              </a:rPr>
              <a:t>Evaluates linguistic ambiguity, extracts deterministic deadlines, and tags uncertainty.</a:t>
            </a:r>
          </a:p>
          <a:p>
            <a:pPr>
              <a:spcBef>
                <a:spcPts val="1000"/>
              </a:spcBef>
              <a:defRPr b="1" sz="1600">
                <a:solidFill>
                  <a:srgbClr val="027AFF"/>
                </a:solidFill>
              </a:defRPr>
            </a:pPr>
            <a:r>
              <a:t>► Structure: </a:t>
            </a:r>
            <a:r>
              <a:rPr b="0">
                <a:solidFill>
                  <a:srgbClr val="475467"/>
                </a:solidFill>
              </a:rPr>
              <a:t>Emits verified JSON containing explicit tasks, priority, deadlines, and multi-hypothesis interpretations.</a:t>
            </a:r>
          </a:p>
          <a:p>
            <a:pPr>
              <a:spcBef>
                <a:spcPts val="1000"/>
              </a:spcBef>
              <a:defRPr b="1" sz="1600">
                <a:solidFill>
                  <a:srgbClr val="027AFF"/>
                </a:solidFill>
              </a:defRPr>
            </a:pPr>
            <a:r>
              <a:t>► Present: </a:t>
            </a:r>
            <a:r>
              <a:rPr b="0">
                <a:solidFill>
                  <a:srgbClr val="475467"/>
                </a:solidFill>
              </a:rPr>
              <a:t>Adapts information density across Minimal, Balanced, and Detailed cognitive load modes.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E02020"/>
                </a:solidFill>
              </a:defRPr>
            </a:pPr>
            <a:r>
              <a:t>NEUROLENS | SNAPDRAGON AI LAB 2026</a:t>
            </a:r>
          </a:p>
          <a:p>
            <a:pPr>
              <a:defRPr sz="2800" b="1">
                <a:solidFill>
                  <a:srgbClr val="101828"/>
                </a:solidFill>
              </a:defRPr>
            </a:pPr>
            <a:r>
              <a:t>Core Innovation: Known ≠ Inferred ≠ Unknown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200"/>
              </a:spcBef>
              <a:defRPr b="1" sz="1700">
                <a:solidFill>
                  <a:srgbClr val="101828"/>
                </a:solidFill>
              </a:defRPr>
            </a:pPr>
            <a:r>
              <a:t>1. KNOWN (Factual &amp; Explicit)</a:t>
            </a:r>
            <a:br/>
            <a:r>
              <a:rPr b="0" sz="1500">
                <a:solidFill>
                  <a:srgbClr val="475467"/>
                </a:solidFill>
              </a:rPr>
              <a:t>   Literal meaning, explicit task requirements, and deterministic deadlines ('before Friday').</a:t>
            </a:r>
          </a:p>
          <a:p>
            <a:pPr>
              <a:spcBef>
                <a:spcPts val="1200"/>
              </a:spcBef>
              <a:defRPr b="1" sz="1700">
                <a:solidFill>
                  <a:srgbClr val="101828"/>
                </a:solidFill>
              </a:defRPr>
            </a:pPr>
            <a:r>
              <a:t>2. INFERRED (Possibility-Based with Evidence)</a:t>
            </a:r>
            <a:br/>
            <a:r>
              <a:rPr b="0" sz="1500">
                <a:solidFill>
                  <a:srgbClr val="475467"/>
                </a:solidFill>
              </a:rPr>
              <a:t>   Probabilistic interpretations with attached confidence and verbatim quotes ('Priority request: 82% confidence, backed by before Friday').</a:t>
            </a:r>
          </a:p>
          <a:p>
            <a:pPr>
              <a:spcBef>
                <a:spcPts val="1200"/>
              </a:spcBef>
              <a:defRPr b="1" sz="1700">
                <a:solidFill>
                  <a:srgbClr val="101828"/>
                </a:solidFill>
              </a:defRPr>
            </a:pPr>
            <a:r>
              <a:t>3. UNKNOWN (Zero-Hallucination Ambiguity)</a:t>
            </a:r>
            <a:br/>
            <a:r>
              <a:rPr b="0" sz="1500">
                <a:solidFill>
                  <a:srgbClr val="475467"/>
                </a:solidFill>
              </a:rPr>
              <a:t>   When instructions are vague, NeuroLens generates targeted clarifying questions instead of guessing intent ('What specific changes are needed in section 1?').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E02020"/>
                </a:solidFill>
              </a:defRPr>
            </a:pPr>
            <a:r>
              <a:t>NEUROLENS | SNAPDRAGON AI LAB 2026</a:t>
            </a:r>
          </a:p>
          <a:p>
            <a:pPr>
              <a:defRPr sz="2800" b="1">
                <a:solidFill>
                  <a:srgbClr val="101828"/>
                </a:solidFill>
              </a:defRPr>
            </a:pPr>
            <a:r>
              <a:t>Snapdragon® Hardware Architecture &amp; NPU Pathway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01828"/>
                </a:solidFill>
              </a:defRPr>
            </a:pPr>
            <a:r>
              <a:t>AI inference is offloaded to the Hexagon NPU; application logic &amp; database reside on the CPU.</a:t>
            </a:r>
          </a:p>
          <a:p>
            <a:pPr>
              <a:spcBef>
                <a:spcPts val="1000"/>
              </a:spcBef>
              <a:defRPr b="1" sz="1500">
                <a:solidFill>
                  <a:srgbClr val="E02020"/>
                </a:solidFill>
              </a:defRPr>
            </a:pPr>
            <a:r>
              <a:t>• Speech (ASR): </a:t>
            </a:r>
            <a:r>
              <a:rPr b="0">
                <a:solidFill>
                  <a:srgbClr val="475467"/>
                </a:solidFill>
              </a:rPr>
              <a:t>Whisper-Base — Qualcomm AI Hub verified for Snapdragon X Elite / X Plus; fast local speech-to-text without cloud streaming.</a:t>
            </a:r>
          </a:p>
          <a:p>
            <a:pPr>
              <a:spcBef>
                <a:spcPts val="1000"/>
              </a:spcBef>
              <a:defRPr b="1" sz="1500">
                <a:solidFill>
                  <a:srgbClr val="E02020"/>
                </a:solidFill>
              </a:defRPr>
            </a:pPr>
            <a:r>
              <a:t>• Reasoning (Cognitive Compiler): </a:t>
            </a:r>
            <a:r>
              <a:rPr b="0">
                <a:solidFill>
                  <a:srgbClr val="475467"/>
                </a:solidFill>
              </a:rPr>
              <a:t>Qwen3-0.6B / Phi-4-Mini — Local GenieX / QAIRT execution on Hexagon NPU; sub-second JSON compilation (~28 tokens/s).</a:t>
            </a:r>
          </a:p>
          <a:p>
            <a:pPr>
              <a:spcBef>
                <a:spcPts val="1000"/>
              </a:spcBef>
              <a:defRPr b="1" sz="1500">
                <a:solidFill>
                  <a:srgbClr val="E02020"/>
                </a:solidFill>
              </a:defRPr>
            </a:pPr>
            <a:r>
              <a:t>• Vision (ContextLens): </a:t>
            </a:r>
            <a:r>
              <a:rPr b="0">
                <a:solidFill>
                  <a:srgbClr val="475467"/>
                </a:solidFill>
              </a:rPr>
              <a:t>Qwen3-VL-4B-Instruct — On-device visual understanding of slides, charts, and screen context via GenieX.</a:t>
            </a:r>
          </a:p>
          <a:p>
            <a:pPr>
              <a:spcBef>
                <a:spcPts val="1000"/>
              </a:spcBef>
              <a:defRPr b="1" sz="1500">
                <a:solidFill>
                  <a:srgbClr val="E02020"/>
                </a:solidFill>
              </a:defRPr>
            </a:pPr>
            <a:r>
              <a:t>• Local API Bridge: </a:t>
            </a:r>
            <a:r>
              <a:rPr b="0">
                <a:solidFill>
                  <a:srgbClr val="475467"/>
                </a:solidFill>
              </a:rPr>
              <a:t>GenieX OpenAI-compatible local server (http://127.0.0.1:18181/v1) — No cloud network requests required.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E02020"/>
                </a:solidFill>
              </a:defRPr>
            </a:pPr>
            <a:r>
              <a:t>NEUROLENS | SNAPDRAGON AI LAB 2026</a:t>
            </a:r>
          </a:p>
          <a:p>
            <a:pPr>
              <a:defRPr sz="2800" b="1">
                <a:solidFill>
                  <a:srgbClr val="101828"/>
                </a:solidFill>
              </a:defRPr>
            </a:pPr>
            <a:r>
              <a:t>Privacy by Design: Ephemeral by Default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200"/>
              </a:spcBef>
              <a:defRPr b="1" sz="1600">
                <a:solidFill>
                  <a:srgbClr val="101828"/>
                </a:solidFill>
              </a:defRPr>
            </a:pPr>
            <a:r>
              <a:t>✔ Ephemeral Speech &amp; Context: </a:t>
            </a:r>
            <a:r>
              <a:rPr b="0">
                <a:solidFill>
                  <a:srgbClr val="475467"/>
                </a:solidFill>
              </a:rPr>
              <a:t>Raw audio chunks are processed in RAM and immediately discarded. Never permanently logged without explicit user consent.</a:t>
            </a:r>
          </a:p>
          <a:p>
            <a:pPr>
              <a:spcBef>
                <a:spcPts val="1200"/>
              </a:spcBef>
              <a:defRPr b="1" sz="1600">
                <a:solidFill>
                  <a:srgbClr val="101828"/>
                </a:solidFill>
              </a:defRPr>
            </a:pPr>
            <a:r>
              <a:t>✔ Network Independence (Offline Lock): </a:t>
            </a:r>
            <a:r>
              <a:rPr b="0">
                <a:solidFill>
                  <a:srgbClr val="475467"/>
                </a:solidFill>
              </a:rPr>
              <a:t>Full AI processing verified with network disconnected. Zero outbound telemetry or cloud API calls.</a:t>
            </a:r>
          </a:p>
          <a:p>
            <a:pPr>
              <a:spcBef>
                <a:spcPts val="1200"/>
              </a:spcBef>
              <a:defRPr b="1" sz="1600">
                <a:solidFill>
                  <a:srgbClr val="101828"/>
                </a:solidFill>
              </a:defRPr>
            </a:pPr>
            <a:r>
              <a:t>✔ Granular Local Memory: </a:t>
            </a:r>
            <a:r>
              <a:rPr b="0">
                <a:solidFill>
                  <a:srgbClr val="475467"/>
                </a:solidFill>
              </a:rPr>
              <a:t>Stores user communication preferences ('prefers concise replies', 'break tasks into small steps') locally in SQLite rather than profiling raw transcripts.</a:t>
            </a:r>
          </a:p>
          <a:p>
            <a:pPr>
              <a:spcBef>
                <a:spcPts val="1200"/>
              </a:spcBef>
              <a:defRPr b="1" sz="1600">
                <a:solidFill>
                  <a:srgbClr val="101828"/>
                </a:solidFill>
              </a:defRPr>
            </a:pPr>
            <a:r>
              <a:t>✔ One-Click Data Purge: </a:t>
            </a:r>
            <a:r>
              <a:rPr b="0">
                <a:solidFill>
                  <a:srgbClr val="475467"/>
                </a:solidFill>
              </a:rPr>
              <a:t>Guaranteed local data destruction with immediate database deletion.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E02020"/>
                </a:solidFill>
              </a:defRPr>
            </a:pPr>
            <a:r>
              <a:t>NEUROLENS | SNAPDRAGON AI LAB 2026</a:t>
            </a:r>
          </a:p>
          <a:p>
            <a:pPr>
              <a:defRPr sz="2800" b="1">
                <a:solidFill>
                  <a:srgbClr val="101828"/>
                </a:solidFill>
              </a:defRPr>
            </a:pPr>
            <a:r>
              <a:t>Live Prototype Demonstration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800"/>
              </a:spcBef>
              <a:defRPr b="1" sz="1500">
                <a:solidFill>
                  <a:srgbClr val="027AFF"/>
                </a:solidFill>
              </a:defRPr>
            </a:pPr>
            <a:r>
              <a:t>[Input Transcript]</a:t>
            </a:r>
            <a:br/>
            <a:r>
              <a:rPr b="0" sz="1400">
                <a:solidFill>
                  <a:srgbClr val="101828"/>
                </a:solidFill>
              </a:rPr>
              <a:t>  "It would probably be good if you could get the analysis over to me sometime before Friday. And maybe revisit the first section because I don't think we're quite there yet."</a:t>
            </a:r>
          </a:p>
          <a:p>
            <a:pPr>
              <a:spcBef>
                <a:spcPts val="800"/>
              </a:spcBef>
              <a:defRPr b="1" sz="1500">
                <a:solidFill>
                  <a:srgbClr val="027AFF"/>
                </a:solidFill>
              </a:defRPr>
            </a:pPr>
            <a:r>
              <a:t>[Extracted Action Items]</a:t>
            </a:r>
            <a:br/>
            <a:r>
              <a:rPr b="0" sz="1400">
                <a:solidFill>
                  <a:srgbClr val="101828"/>
                </a:solidFill>
              </a:rPr>
              <a:t>  1. [ ] Send analysis (Priority: HIGH)   |   2. [ ] Revisit first section (Priority: MEDIUM)</a:t>
            </a:r>
          </a:p>
          <a:p>
            <a:pPr>
              <a:spcBef>
                <a:spcPts val="800"/>
              </a:spcBef>
              <a:defRPr b="1" sz="1500">
                <a:solidFill>
                  <a:srgbClr val="027AFF"/>
                </a:solidFill>
              </a:defRPr>
            </a:pPr>
            <a:r>
              <a:t>[Detected Deadlines]</a:t>
            </a:r>
            <a:br/>
            <a:r>
              <a:rPr b="0" sz="1400">
                <a:solidFill>
                  <a:srgbClr val="101828"/>
                </a:solidFill>
              </a:rPr>
              <a:t>  • Friday (Resolved via deterministic hybrid rule + NPU inference)</a:t>
            </a:r>
          </a:p>
          <a:p>
            <a:pPr>
              <a:spcBef>
                <a:spcPts val="800"/>
              </a:spcBef>
              <a:defRPr b="1" sz="1500">
                <a:solidFill>
                  <a:srgbClr val="027AFF"/>
                </a:solidFill>
              </a:defRPr>
            </a:pPr>
            <a:r>
              <a:t>[Possibility &amp; Evidence]</a:t>
            </a:r>
            <a:br/>
            <a:r>
              <a:rPr b="0" sz="1400">
                <a:solidFill>
                  <a:srgbClr val="101828"/>
                </a:solidFill>
              </a:rPr>
              <a:t>  • Interpretation: Priority deliverable (82% confidence, evidence: 'get the analysis over before Friday')</a:t>
            </a:r>
          </a:p>
          <a:p>
            <a:pPr>
              <a:spcBef>
                <a:spcPts val="800"/>
              </a:spcBef>
              <a:defRPr b="1" sz="1500">
                <a:solidFill>
                  <a:srgbClr val="027AFF"/>
                </a:solidFill>
              </a:defRPr>
            </a:pPr>
            <a:r>
              <a:t>[Ambiguity &amp; Clarification]</a:t>
            </a:r>
            <a:br/>
            <a:r>
              <a:rPr b="0" sz="1400">
                <a:solidFill>
                  <a:srgbClr val="101828"/>
                </a:solidFill>
              </a:rPr>
              <a:t>  • Ambiguity: MEDIUM (revisions to section 1 unspecified) -&gt; Clarifying Question: 'What specific adjustments would you like made to section 1?'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E02020"/>
                </a:solidFill>
              </a:defRPr>
            </a:pPr>
            <a:r>
              <a:t>NEUROLENS | SNAPDRAGON AI LAB 2026</a:t>
            </a:r>
          </a:p>
          <a:p>
            <a:pPr>
              <a:defRPr sz="2800" b="1">
                <a:solidFill>
                  <a:srgbClr val="101828"/>
                </a:solidFill>
              </a:defRPr>
            </a:pPr>
            <a:r>
              <a:t>Target Metrics &amp; Evaluation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200"/>
              </a:spcBef>
              <a:defRPr b="1" sz="1600">
                <a:solidFill>
                  <a:srgbClr val="101828"/>
                </a:solidFill>
              </a:defRPr>
            </a:pPr>
            <a:r>
              <a:t>• Task Extraction Precision &amp; Recall: </a:t>
            </a:r>
            <a:r>
              <a:rPr b="0">
                <a:solidFill>
                  <a:srgbClr val="475467"/>
                </a:solidFill>
              </a:rPr>
              <a:t>&gt;90% benchmark across controlled conversational and lecture transcripts.</a:t>
            </a:r>
          </a:p>
          <a:p>
            <a:pPr>
              <a:spcBef>
                <a:spcPts val="1200"/>
              </a:spcBef>
              <a:defRPr b="1" sz="1600">
                <a:solidFill>
                  <a:srgbClr val="101828"/>
                </a:solidFill>
              </a:defRPr>
            </a:pPr>
            <a:r>
              <a:t>• Deadline Extraction Accuracy: </a:t>
            </a:r>
            <a:r>
              <a:rPr b="0">
                <a:solidFill>
                  <a:srgbClr val="475467"/>
                </a:solidFill>
              </a:rPr>
              <a:t>&gt;95% accuracy via dual neural + deterministic rule engine.</a:t>
            </a:r>
          </a:p>
          <a:p>
            <a:pPr>
              <a:spcBef>
                <a:spcPts val="1200"/>
              </a:spcBef>
              <a:defRPr b="1" sz="1600">
                <a:solidFill>
                  <a:srgbClr val="101828"/>
                </a:solidFill>
              </a:defRPr>
            </a:pPr>
            <a:r>
              <a:t>• End-to-End Latency Target: </a:t>
            </a:r>
            <a:r>
              <a:rPr b="0">
                <a:solidFill>
                  <a:srgbClr val="475467"/>
                </a:solidFill>
              </a:rPr>
              <a:t>Sub-second turnaround on Snapdragon X NPU platform for real-time responsiveness.</a:t>
            </a:r>
          </a:p>
          <a:p>
            <a:pPr>
              <a:spcBef>
                <a:spcPts val="1200"/>
              </a:spcBef>
              <a:defRPr b="1" sz="1600">
                <a:solidFill>
                  <a:srgbClr val="101828"/>
                </a:solidFill>
              </a:defRPr>
            </a:pPr>
            <a:r>
              <a:t>• Honest Benchmark Policy: </a:t>
            </a:r>
            <a:r>
              <a:rPr b="0">
                <a:solidFill>
                  <a:srgbClr val="475467"/>
                </a:solidFill>
              </a:rPr>
              <a:t>All latency and token metrics are documented as measured directly on target Snapdragon hardware, without inflated cloud assumptions.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8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106984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Roadmap &amp; The Snapdragon® Advantage</a:t>
            </a:r>
          </a:p>
          <a:p>
            <a:br/>
            <a:pPr>
              <a:defRPr b="1" sz="1600">
                <a:solidFill>
                  <a:srgbClr val="027AFF"/>
                </a:solidFill>
              </a:defRPr>
            </a:pPr>
            <a:r>
              <a:t>✔ Phase 1 (Completed Prototype): </a:t>
            </a:r>
            <a:r>
              <a:rPr b="0">
                <a:solidFill>
                  <a:srgbClr val="DCE6F2"/>
                </a:solidFill>
              </a:rPr>
              <a:t>Pydantic-validated Cognitive Compiler, hybrid deadline engine, ambiguity detector, and multi-scenario verification.</a:t>
            </a:r>
          </a:p>
          <a:p>
            <a:br/>
            <a:pPr>
              <a:defRPr b="1" sz="1600">
                <a:solidFill>
                  <a:srgbClr val="027AFF"/>
                </a:solidFill>
              </a:defRPr>
            </a:pPr>
            <a:r>
              <a:t>✔ Phase 2 (Hackathon MVP): </a:t>
            </a:r>
            <a:r>
              <a:rPr b="0">
                <a:solidFill>
                  <a:srgbClr val="DCE6F2"/>
                </a:solidFill>
              </a:rPr>
              <a:t>Streamlit calm UI integration, live Whisper-Base microphone ingestion, and GenieX local server binding on Snapdragon X PC.</a:t>
            </a:r>
          </a:p>
          <a:p>
            <a:br/>
            <a:pPr>
              <a:defRPr b="1" sz="1600">
                <a:solidFill>
                  <a:srgbClr val="027AFF"/>
                </a:solidFill>
              </a:defRPr>
            </a:pPr>
            <a:r>
              <a:t>✔ Phase 3 (Multimodal Extension): </a:t>
            </a:r>
            <a:r>
              <a:rPr b="0">
                <a:solidFill>
                  <a:srgbClr val="DCE6F2"/>
                </a:solidFill>
              </a:rPr>
              <a:t>Qwen3-VL ContextLens for instant slide/document region understanding.</a:t>
            </a:r>
          </a:p>
          <a:p>
            <a:br/>
            <a:pPr>
              <a:defRPr b="1" sz="1600">
                <a:solidFill>
                  <a:srgbClr val="027AFF"/>
                </a:solidFill>
              </a:defRPr>
            </a:pPr>
            <a:r>
              <a:t>✔ Long-term Vision: </a:t>
            </a:r>
            <a:r>
              <a:rPr b="0">
                <a:solidFill>
                  <a:srgbClr val="DCE6F2"/>
                </a:solidFill>
              </a:rPr>
              <a:t>Empowering millions of neurodivergent users and professionals with private, on-device cognitive augmentation powered by Qualcomm Snapdragon.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