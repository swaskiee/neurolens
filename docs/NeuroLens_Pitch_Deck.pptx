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mbria"/>
              </a:rPr>
              <a:t>NeuroLens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2600" b="0" i="0">
                <a:solidFill>
                  <a:srgbClr val="F2B134"/>
                </a:solidFill>
                <a:latin typeface="Calibri"/>
              </a:rPr>
              <a:t>Private, real-time AI for cognitive 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C9D6E3"/>
                </a:solidFill>
                <a:latin typeface="Calibri"/>
              </a:rPr>
              <a:t>Understand the moment. Organize the thought. Keep everything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9D6E3"/>
                </a:solidFill>
                <a:latin typeface="Calibri"/>
              </a:rPr>
              <a:t>Snapdragon® AI Lab Build &amp; Present Challenge 2026   |   Swati Dubey   |   Proposal + tested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B1F33"/>
                </a:solidFill>
                <a:latin typeface="Cambria"/>
              </a:rPr>
              <a:t>Fast, indirect communication hides the real task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tIns="274320" rIns="320040" bIns="274320"/>
          <a:lstStyle/>
          <a:p>
            <a:pPr algn="l"/>
            <a:r>
              <a:rPr sz="1300" b="1" i="0">
                <a:solidFill>
                  <a:srgbClr val="556575"/>
                </a:solidFill>
                <a:latin typeface="Calibri"/>
              </a:rPr>
              <a:t>What was said</a:t>
            </a:r>
          </a:p>
          <a:p>
            <a:pPr algn="l">
              <a:spcBef>
                <a:spcPts val="600"/>
              </a:spcBef>
            </a:pPr>
            <a:r>
              <a:rPr sz="2000" b="0" i="1">
                <a:solidFill>
                  <a:srgbClr val="1B2A3A"/>
                </a:solidFill>
                <a:latin typeface="Cambria"/>
              </a:rPr>
              <a:t>“It would probably be good if you could get the analysis over to me sometime before Friday.”</a:t>
            </a:r>
          </a:p>
          <a:p>
            <a:pPr algn="l">
              <a:spcBef>
                <a:spcPts val="600"/>
              </a:spcBef>
            </a:pPr>
            <a:r>
              <a:rPr sz="8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556575"/>
                </a:solidFill>
                <a:latin typeface="Calibri"/>
              </a:rPr>
              <a:t>What a person has to work out, live</a:t>
            </a:r>
          </a:p>
          <a:p>
            <a:pPr algn="l">
              <a:spcBef>
                <a:spcPts val="600"/>
              </a:spcBef>
            </a:pPr>
            <a:r>
              <a:rPr sz="1700" b="0" i="0">
                <a:solidFill>
                  <a:srgbClr val="1B2A3A"/>
                </a:solidFill>
                <a:latin typeface="Calibri"/>
              </a:rPr>
              <a:t>Is this a request or a suggestion?</a:t>
            </a:r>
          </a:p>
          <a:p>
            <a:pPr algn="l">
              <a:spcBef>
                <a:spcPts val="600"/>
              </a:spcBef>
            </a:pPr>
            <a:r>
              <a:rPr sz="1700" b="0" i="0">
                <a:solidFill>
                  <a:srgbClr val="1B2A3A"/>
                </a:solidFill>
                <a:latin typeface="Calibri"/>
              </a:rPr>
              <a:t>What is the deadline, exactly?</a:t>
            </a:r>
          </a:p>
          <a:p>
            <a:pPr algn="l">
              <a:spcBef>
                <a:spcPts val="600"/>
              </a:spcBef>
            </a:pPr>
            <a:r>
              <a:rPr sz="1700" b="0" i="0">
                <a:solidFill>
                  <a:srgbClr val="1B2A3A"/>
                </a:solidFill>
                <a:latin typeface="Calibri"/>
              </a:rPr>
              <a:t>What else is unclear?</a:t>
            </a:r>
          </a:p>
        </p:txBody>
      </p:sp>
      <p:sp>
        <p:nvSpPr>
          <p:cNvPr id="4" name="Oval 3"/>
          <p:cNvSpPr/>
          <p:nvPr/>
        </p:nvSpPr>
        <p:spPr>
          <a:xfrm>
            <a:off x="6583680" y="1828800"/>
            <a:ext cx="548640" cy="548640"/>
          </a:xfrm>
          <a:prstGeom prst="ellipse">
            <a:avLst/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737360"/>
            <a:ext cx="4206240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B1F33"/>
                </a:solidFill>
                <a:latin typeface="Calibri"/>
              </a:rPr>
              <a:t>Indirect wording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556575"/>
                </a:solidFill>
                <a:latin typeface="Calibri"/>
              </a:rPr>
              <a:t>Polite phrasing can hide real requests and deadlines.</a:t>
            </a:r>
          </a:p>
        </p:txBody>
      </p:sp>
      <p:sp>
        <p:nvSpPr>
          <p:cNvPr id="6" name="Oval 5"/>
          <p:cNvSpPr/>
          <p:nvPr/>
        </p:nvSpPr>
        <p:spPr>
          <a:xfrm>
            <a:off x="6583680" y="3291840"/>
            <a:ext cx="548640" cy="548640"/>
          </a:xfrm>
          <a:prstGeom prst="ellipse">
            <a:avLst/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3200400"/>
            <a:ext cx="4206240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B1F33"/>
                </a:solidFill>
                <a:latin typeface="Calibri"/>
              </a:rPr>
              <a:t>No time to parse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556575"/>
                </a:solidFill>
                <a:latin typeface="Calibri"/>
              </a:rPr>
              <a:t>Lectures and meetings move on before you have worked it out.</a:t>
            </a:r>
          </a:p>
        </p:txBody>
      </p:sp>
      <p:sp>
        <p:nvSpPr>
          <p:cNvPr id="8" name="Oval 7"/>
          <p:cNvSpPr/>
          <p:nvPr/>
        </p:nvSpPr>
        <p:spPr>
          <a:xfrm>
            <a:off x="6583680" y="4754879"/>
            <a:ext cx="548640" cy="548640"/>
          </a:xfrm>
          <a:prstGeom prst="ellipse">
            <a:avLst/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663440"/>
            <a:ext cx="4206240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B1F33"/>
                </a:solidFill>
                <a:latin typeface="Calibri"/>
              </a:rPr>
              <a:t>Cloud help costs privacy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556575"/>
                </a:solidFill>
                <a:latin typeface="Calibri"/>
              </a:rPr>
              <a:t>Assistants that fix this usually need your conversations sent to a remote server.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B1F33"/>
                </a:solidFill>
                <a:latin typeface="Cambria"/>
              </a:rPr>
              <a:t>What is missing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274320" rIns="228600" bIns="228600"/>
          <a:lstStyle/>
          <a:p>
            <a:pPr algn="l"/>
            <a:r>
              <a:rPr sz="1900" b="1" i="0">
                <a:solidFill>
                  <a:srgbClr val="0B1F33"/>
                </a:solidFill>
                <a:latin typeface="Cambria"/>
              </a:rPr>
              <a:t>Transcription only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556575"/>
                </a:solidFill>
                <a:latin typeface="Calibri"/>
              </a:rPr>
              <a:t>Gives you every word.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C04B3B"/>
                </a:solidFill>
                <a:latin typeface="Calibri"/>
              </a:rPr>
              <a:t>Gap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Does not say what matters or what to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73736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274320" rIns="228600" bIns="228600"/>
          <a:lstStyle/>
          <a:p>
            <a:pPr algn="l"/>
            <a:r>
              <a:rPr sz="1900" b="1" i="0">
                <a:solidFill>
                  <a:srgbClr val="0B1F33"/>
                </a:solidFill>
                <a:latin typeface="Cambria"/>
              </a:rPr>
              <a:t>Cloud AI assistants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556575"/>
                </a:solidFill>
                <a:latin typeface="Calibri"/>
              </a:rPr>
              <a:t>Can summarize and answer.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C04B3B"/>
                </a:solidFill>
                <a:latin typeface="Calibri"/>
              </a:rPr>
              <a:t>Gap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Needs private conversations sent off-device.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274320" rIns="228600" bIns="228600"/>
          <a:lstStyle/>
          <a:p>
            <a:pPr algn="l"/>
            <a:r>
              <a:rPr sz="1900" b="1" i="0">
                <a:solidFill>
                  <a:srgbClr val="0B1F33"/>
                </a:solidFill>
                <a:latin typeface="Cambria"/>
              </a:rPr>
              <a:t>Task apps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556575"/>
                </a:solidFill>
                <a:latin typeface="Calibri"/>
              </a:rPr>
              <a:t>Organize tasks well.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C04B3B"/>
                </a:solidFill>
                <a:latin typeface="Calibri"/>
              </a:rPr>
              <a:t>Gap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Start from tasks you type in yourself.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06840" y="173736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tIns="274320" rIns="228600" bIns="228600"/>
          <a:lstStyle/>
          <a:p>
            <a:pPr algn="l"/>
            <a:r>
              <a:rPr sz="1900" b="1" i="0">
                <a:solidFill>
                  <a:srgbClr val="0B1F33"/>
                </a:solidFill>
                <a:latin typeface="Cambria"/>
              </a:rPr>
              <a:t>Overconfident answers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556575"/>
                </a:solidFill>
                <a:latin typeface="Calibri"/>
              </a:rPr>
              <a:t>Sound certain.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C04B3B"/>
                </a:solidFill>
                <a:latin typeface="Calibri"/>
              </a:rPr>
              <a:t>Gap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Rarely say what is unclear or ask instead.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B1F33"/>
                </a:solidFill>
                <a:latin typeface="Cambria"/>
              </a:rPr>
              <a:t>From messy language to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2468880" cy="822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  Parse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246888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1B2A3A"/>
                </a:solidFill>
                <a:latin typeface="Calibri"/>
              </a:rPr>
              <a:t>Split speech or text into clauses. Find dates and times with rules.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54680" y="2240280"/>
            <a:ext cx="274320" cy="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29000" y="1828800"/>
            <a:ext cx="2468880" cy="822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  Disambiguate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2880360"/>
            <a:ext cx="246888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1B2A3A"/>
                </a:solidFill>
                <a:latin typeface="Calibri"/>
              </a:rPr>
              <a:t>Score how vague the wording is. Spot missing task, deadline or referent.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43600" y="2240280"/>
            <a:ext cx="274320" cy="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217920" y="1828800"/>
            <a:ext cx="2468880" cy="822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 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246888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1B2A3A"/>
                </a:solidFill>
                <a:latin typeface="Calibri"/>
              </a:rPr>
              <a:t>Fill a fixed schema: actions, deadlines, interpretations, questions.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32520" y="2240280"/>
            <a:ext cx="274320" cy="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06840" y="1828800"/>
            <a:ext cx="2468880" cy="822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  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2880360"/>
            <a:ext cx="246888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1B2A3A"/>
                </a:solidFill>
                <a:latin typeface="Calibri"/>
              </a:rPr>
              <a:t>Output must pass the schema, or the system falls back to rules.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DD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320040" bIns="91440"/>
          <a:lstStyle/>
          <a:p>
            <a:pPr algn="l"/>
            <a:r>
              <a:rPr sz="1800" b="1" i="0">
                <a:solidFill>
                  <a:srgbClr val="0B1F33"/>
                </a:solidFill>
                <a:latin typeface="Calibri"/>
              </a:rPr>
              <a:t>Not a chatbot. </a:t>
            </a:r>
            <a:r>
              <a:rPr sz="1800" b="0" i="0">
                <a:solidFill>
                  <a:srgbClr val="1B2A3A"/>
                </a:solidFill>
                <a:latin typeface="Calibri"/>
              </a:rPr>
              <a:t>It returns the same fixed structure every time, so every field can be shown, checked and reused.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B1F33"/>
                </a:solidFill>
                <a:latin typeface="Cambria"/>
              </a:rPr>
              <a:t>Known  ≠  Inferred  ≠  Unknown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tIns="320040" rIns="320040" bIns="274320"/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KNOWN</a:t>
            </a:r>
          </a:p>
          <a:p>
            <a:pPr algn="l">
              <a:spcBef>
                <a:spcPts val="60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What is stated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700" b="0" i="0">
                <a:solidFill>
                  <a:srgbClr val="FFFFFF"/>
                </a:solidFill>
                <a:latin typeface="Calibri"/>
              </a:rPr>
              <a:t>Literal meaning, explicit tasks, deadlines found by rules.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FFFFFF"/>
                </a:solidFill>
                <a:latin typeface="Calibri"/>
              </a:rPr>
              <a:t>From the meeting example</a:t>
            </a:r>
          </a:p>
          <a:p>
            <a:pPr algn="l">
              <a:spcBef>
                <a:spcPts val="600"/>
              </a:spcBef>
            </a:pPr>
            <a:r>
              <a:rPr sz="1600" b="0" i="1">
                <a:solidFill>
                  <a:srgbClr val="FFFFFF"/>
                </a:solidFill>
                <a:latin typeface="Calibri"/>
              </a:rPr>
              <a:t>Deadline: Friday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15968" y="173736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tIns="320040" rIns="320040" bIns="274320"/>
          <a:lstStyle/>
          <a:p>
            <a:pPr algn="l"/>
            <a:r>
              <a:rPr sz="3000" b="1" i="0">
                <a:solidFill>
                  <a:srgbClr val="1B2A3A"/>
                </a:solidFill>
                <a:latin typeface="Cambria"/>
              </a:rPr>
              <a:t>INFERRED</a:t>
            </a:r>
          </a:p>
          <a:p>
            <a:pPr algn="l">
              <a:spcBef>
                <a:spcPts val="600"/>
              </a:spcBef>
            </a:pPr>
            <a:r>
              <a:rPr sz="1600" b="1" i="0">
                <a:solidFill>
                  <a:srgbClr val="1B2A3A"/>
                </a:solidFill>
                <a:latin typeface="Calibri"/>
              </a:rPr>
              <a:t>What is possible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700" b="0" i="0">
                <a:solidFill>
                  <a:srgbClr val="1B2A3A"/>
                </a:solidFill>
                <a:latin typeface="Calibri"/>
              </a:rPr>
              <a:t>Readings of vague wording, always with the words that support them.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1B2A3A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From the meeting example</a:t>
            </a:r>
          </a:p>
          <a:p>
            <a:pPr algn="l">
              <a:spcBef>
                <a:spcPts val="600"/>
              </a:spcBef>
            </a:pPr>
            <a:r>
              <a:rPr sz="1600" b="0" i="1">
                <a:solidFill>
                  <a:srgbClr val="1B2A3A"/>
                </a:solidFill>
                <a:latin typeface="Calibri"/>
              </a:rPr>
              <a:t>May be a real request, not just a suggestion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91855" y="173736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C04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tIns="320040" rIns="320040" bIns="274320"/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UNKNOWN</a:t>
            </a:r>
          </a:p>
          <a:p>
            <a:pPr algn="l">
              <a:spcBef>
                <a:spcPts val="60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What is missing</a:t>
            </a:r>
          </a:p>
          <a:p>
            <a:pPr algn="l">
              <a:spcBef>
                <a:spcPts val="600"/>
              </a:spcBef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700" b="0" i="0">
                <a:solidFill>
                  <a:srgbClr val="FFFFFF"/>
                </a:solidFill>
                <a:latin typeface="Calibri"/>
              </a:rPr>
              <a:t>Gaps become a question, not a guess.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FFFFFF"/>
                </a:solidFill>
                <a:latin typeface="Calibri"/>
              </a:rPr>
              <a:t>From the meeting example</a:t>
            </a:r>
          </a:p>
          <a:p>
            <a:pPr algn="l">
              <a:spcBef>
                <a:spcPts val="600"/>
              </a:spcBef>
            </a:pPr>
            <a:r>
              <a:rPr sz="1600" b="0" i="1">
                <a:solidFill>
                  <a:srgbClr val="FFFFFF"/>
                </a:solidFill>
                <a:latin typeface="Calibri"/>
              </a:rPr>
              <a:t>“Which part should be changed, and how?”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B1F33"/>
                </a:solidFill>
                <a:latin typeface="Cambria"/>
              </a:rPr>
              <a:t>Architecture: what exists and what is planned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5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1B2A3A"/>
                </a:solidFill>
                <a:latin typeface="Calibri"/>
              </a:rPr>
              <a:t>Microphone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55448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5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1B2A3A"/>
                </a:solidFill>
                <a:latin typeface="Calibri"/>
              </a:rPr>
              <a:t>VAD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55448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5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1B2A3A"/>
                </a:solidFill>
                <a:latin typeface="Calibri"/>
              </a:rPr>
              <a:t>Whisper-Base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556575"/>
                </a:solidFill>
                <a:latin typeface="Calibri"/>
              </a:rPr>
              <a:t>speech to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5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1B2A3A"/>
                </a:solidFill>
                <a:latin typeface="Calibri"/>
              </a:rPr>
              <a:t>Screenshot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556575"/>
                </a:solidFill>
                <a:latin typeface="Calibri"/>
              </a:rPr>
              <a:t>user-selected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301752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5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1B2A3A"/>
                </a:solidFill>
                <a:latin typeface="Calibri"/>
              </a:rPr>
              <a:t>Qwen3-VL-4B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556575"/>
                </a:solidFill>
                <a:latin typeface="Calibri"/>
              </a:rPr>
              <a:t>screen to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448056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Typed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560320"/>
            <a:ext cx="2286000" cy="2011680"/>
          </a:xfrm>
          <a:prstGeom prst="roundRect">
            <a:avLst>
              <a:gd name="adj" fmla="val 6000"/>
            </a:avLst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Cognitive Compiler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DDF1EE"/>
                </a:solidFill>
                <a:latin typeface="Calibri"/>
              </a:rPr>
              <a:t>rules + local model (GenieX)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310896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Schema validation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DDF1EE"/>
                </a:solidFill>
                <a:latin typeface="Calibri"/>
              </a:rPr>
              <a:t>Pydantic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4572000"/>
            <a:ext cx="18288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5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rIns="137160" bIns="91440"/>
          <a:lstStyle/>
          <a:p>
            <a:pPr algn="ctr"/>
            <a:r>
              <a:rPr sz="1600" b="1" i="0">
                <a:solidFill>
                  <a:srgbClr val="1B2A3A"/>
                </a:solidFill>
                <a:latin typeface="Calibri"/>
              </a:rPr>
              <a:t>Tasks, Focus, memory,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011680"/>
            <a:ext cx="365760" cy="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06240" y="2011680"/>
            <a:ext cx="365760" cy="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474720"/>
            <a:ext cx="2194560" cy="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00800" y="2011680"/>
            <a:ext cx="640080" cy="109728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3474720"/>
            <a:ext cx="640080" cy="9144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400800" y="4114800"/>
            <a:ext cx="640080" cy="82296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326880" y="3566160"/>
            <a:ext cx="457200" cy="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698480" y="4023360"/>
            <a:ext cx="0" cy="548640"/>
          </a:xfrm>
          <a:prstGeom prst="line">
            <a:avLst/>
          </a:prstGeom>
          <a:ln w="25400">
            <a:solidFill>
              <a:srgbClr val="5565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40080" y="5989320"/>
            <a:ext cx="274320" cy="274320"/>
          </a:xfrm>
          <a:prstGeom prst="rect">
            <a:avLst/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943600"/>
            <a:ext cx="329184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B2A3A"/>
                </a:solidFill>
                <a:latin typeface="Calibri"/>
              </a:rPr>
              <a:t>Implemented and tested on CPU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5989320"/>
            <a:ext cx="274320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55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5943600"/>
            <a:ext cx="182880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B2A3A"/>
                </a:solidFill>
                <a:latin typeface="Calibri"/>
              </a:rPr>
              <a:t>Planned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943600"/>
            <a:ext cx="521208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556575"/>
                </a:solidFill>
                <a:latin typeface="Calibri"/>
              </a:rPr>
              <a:t>Model path written; not yet run on my Snapdragon device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B1F33"/>
                </a:solidFill>
                <a:latin typeface="Cambria"/>
              </a:rPr>
              <a:t>Snapdragon plan: targets, not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73736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926080"/>
                <a:gridCol w="3108960"/>
                <a:gridCol w="2468880"/>
              </a:tblGrid>
              <a:tr h="685800">
                <a:tc>
                  <a:txBody>
                    <a:bodyPr wrap="square" lIns="137160" rIns="137160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Candidate model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Intended runtime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0B1F33"/>
                    </a:solidFill>
                  </a:tcPr>
                </a:tc>
              </a:tr>
              <a:tr h="685800">
                <a:tc>
                  <a:txBody>
                    <a:bodyPr wrap="square" lIns="137160" rIns="137160"/>
                    <a:lstStyle/>
                    <a:p>
                      <a:r>
                        <a:rPr sz="1600" b="1">
                          <a:solidFill>
                            <a:srgbClr val="1B2A3A"/>
                          </a:solidFill>
                          <a:latin typeface="Calibri"/>
                        </a:rPr>
                        <a:t>Speech to 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Whisper-Base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Qualcomm AI Hub / QAI AppBuilder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Not yet run on my device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lIns="137160" rIns="137160"/>
                    <a:lstStyle/>
                    <a:p>
                      <a:r>
                        <a:rPr sz="1600" b="1">
                          <a:solidFill>
                            <a:srgbClr val="1B2A3A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anchor="ctr">
                    <a:solidFill>
                      <a:srgbClr val="DDF1EE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Qwen3-0.6B (Phi-4-Mini alt.)</a:t>
                      </a:r>
                    </a:p>
                  </a:txBody>
                  <a:tcPr anchor="ctr">
                    <a:solidFill>
                      <a:srgbClr val="DDF1EE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GenieX local server</a:t>
                      </a:r>
                    </a:p>
                  </a:txBody>
                  <a:tcPr anchor="ctr">
                    <a:solidFill>
                      <a:srgbClr val="DDF1EE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Client written; not yet run</a:t>
                      </a:r>
                    </a:p>
                  </a:txBody>
                  <a:tcPr anchor="ctr">
                    <a:solidFill>
                      <a:srgbClr val="DDF1EE"/>
                    </a:solidFill>
                  </a:tcPr>
                </a:tc>
              </a:tr>
              <a:tr h="685800">
                <a:tc>
                  <a:txBody>
                    <a:bodyPr wrap="square" lIns="137160" rIns="137160"/>
                    <a:lstStyle/>
                    <a:p>
                      <a:r>
                        <a:rPr sz="1600" b="1">
                          <a:solidFill>
                            <a:srgbClr val="1B2A3A"/>
                          </a:solidFill>
                          <a:latin typeface="Calibri"/>
                        </a:rPr>
                        <a:t>Screen understanding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Qwen3-VL-4B-Instruct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GenieX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7160" rIns="137160"/>
                    <a:lstStyle/>
                    <a:p>
                      <a:r>
                        <a:rPr sz="1600" b="0">
                          <a:solidFill>
                            <a:srgbClr val="1B2A3A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" y="48920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320040" bIns="91440"/>
          <a:lstStyle/>
          <a:p>
            <a:pPr algn="l"/>
            <a:r>
              <a:rPr sz="1600" b="0" i="0">
                <a:solidFill>
                  <a:srgbClr val="1B2A3A"/>
                </a:solidFill>
                <a:latin typeface="Calibri"/>
              </a:rPr>
              <a:t>Inference is intended to run on the Snapdragon NPU where supported; UI, storage and rules run on the CPU. </a:t>
            </a:r>
            <a:r>
              <a:rPr sz="1600" b="1" i="0">
                <a:solidFill>
                  <a:srgbClr val="0B1F33"/>
                </a:solidFill>
                <a:latin typeface="Calibri"/>
              </a:rPr>
              <a:t>No speed or accuracy numbers are claimed until measured on my own laptop.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B1F33"/>
                </a:solidFill>
                <a:latin typeface="Cambria"/>
              </a:rPr>
              <a:t>Privacy by design (goals for the full app)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011679"/>
            <a:ext cx="640080" cy="640080"/>
          </a:xfrm>
          <a:prstGeom prst="ellipse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74519"/>
            <a:ext cx="9418320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B1F33"/>
                </a:solidFill>
                <a:latin typeface="Calibri"/>
              </a:rPr>
              <a:t>Ephemeral by default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556575"/>
                </a:solidFill>
                <a:latin typeface="Calibri"/>
              </a:rPr>
              <a:t>Audio and screenshots are processed in memory and discarded unless the user chooses to save.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3383279"/>
            <a:ext cx="640080" cy="640080"/>
          </a:xfrm>
          <a:prstGeom prst="ellipse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46120"/>
            <a:ext cx="9418320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B1F33"/>
                </a:solidFill>
                <a:latin typeface="Calibri"/>
              </a:rPr>
              <a:t>Preferences, not logs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556575"/>
                </a:solidFill>
                <a:latin typeface="Calibri"/>
              </a:rPr>
              <a:t>Memory keeps user-approved settings such as “prefers short answers”, not conversation history.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48056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4754880"/>
            <a:ext cx="640080" cy="640080"/>
          </a:xfrm>
          <a:prstGeom prst="ellipse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617720"/>
            <a:ext cx="9418320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B1F33"/>
                </a:solidFill>
                <a:latin typeface="Calibri"/>
              </a:rPr>
              <a:t>No cloud AI for core use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556575"/>
                </a:solidFill>
                <a:latin typeface="Calibri"/>
              </a:rPr>
              <a:t>Local models handle inference. Offline behaviour will be tested before it is claimed.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556575"/>
                </a:solidFill>
                <a:latin typeface="Calibri"/>
              </a:rPr>
              <a:t>These are design goals; the privacy features are not built yet.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B1F33"/>
                </a:solidFill>
                <a:latin typeface="Cambria"/>
              </a:rPr>
              <a:t>Prototype today: real output from the rule-based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44805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8C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74320" bIns="274320"/>
          <a:lstStyle/>
          <a:p>
            <a:pPr algn="l"/>
            <a:r>
              <a:rPr sz="1300" b="1" i="0">
                <a:solidFill>
                  <a:srgbClr val="556575"/>
                </a:solidFill>
                <a:latin typeface="Calibri"/>
              </a:rPr>
              <a:t>Input</a:t>
            </a:r>
          </a:p>
          <a:p>
            <a:pPr algn="l">
              <a:spcBef>
                <a:spcPts val="600"/>
              </a:spcBef>
            </a:pPr>
            <a:r>
              <a:rPr sz="1600" b="0" i="1">
                <a:solidFill>
                  <a:srgbClr val="1B2A3A"/>
                </a:solidFill>
                <a:latin typeface="Cambria"/>
              </a:rPr>
              <a:t>“It would probably be good if you could get the analysis over to me sometime before Friday. And maybe revisit the first section because I don't think we're quite there yet.”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94960" y="1645920"/>
            <a:ext cx="612648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E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tIns="228600" rIns="320040" bIns="182880"/>
          <a:lstStyle/>
          <a:p>
            <a:pPr algn="l"/>
            <a:r>
              <a:rPr sz="1300" b="1" i="0">
                <a:solidFill>
                  <a:srgbClr val="0E8F83"/>
                </a:solidFill>
                <a:latin typeface="Calibri"/>
              </a:rPr>
              <a:t>Output</a:t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556575"/>
                </a:solidFill>
                <a:latin typeface="Calibri"/>
              </a:rPr>
              <a:t>Actions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[ ]  get the analysis over to me  (high)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[ ]  revisit the first section  (medium)</a:t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556575"/>
                </a:solidFill>
                <a:latin typeface="Calibri"/>
              </a:rPr>
              <a:t>Deadline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Friday</a:t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556575"/>
                </a:solidFill>
                <a:latin typeface="Calibri"/>
              </a:rPr>
              <a:t>Ambiguity</a:t>
            </a:r>
          </a:p>
          <a:p>
            <a:pPr algn="l">
              <a:spcBef>
                <a:spcPts val="600"/>
              </a:spcBef>
            </a:pPr>
            <a:r>
              <a:rPr sz="1600" b="1" i="0">
                <a:solidFill>
                  <a:srgbClr val="C04B3B"/>
                </a:solidFill>
                <a:latin typeface="Calibri"/>
              </a:rPr>
              <a:t>MEDIUM</a:t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556575"/>
                </a:solidFill>
                <a:latin typeface="Calibri"/>
              </a:rPr>
              <a:t>Clarifying question</a:t>
            </a:r>
          </a:p>
          <a:p>
            <a:pPr algn="l">
              <a:spcBef>
                <a:spcPts val="600"/>
              </a:spcBef>
            </a:pPr>
            <a:r>
              <a:rPr sz="1600" b="0" i="1">
                <a:solidFill>
                  <a:srgbClr val="1B2A3A"/>
                </a:solidFill>
                <a:latin typeface="Calibri"/>
              </a:rPr>
              <a:t>“Which part should be changed, and how?”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1">
                <a:solidFill>
                  <a:srgbClr val="556575"/>
                </a:solidFill>
                <a:latin typeface="Calibri"/>
              </a:rPr>
              <a:t>Produced on CPU by the rule engine (python cognitive_compiler.py --no-model). The local-model path has not yet been run on Snapdragon.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Where it stands and what comes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0E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tIns="274320" rIns="274320" bIns="274320"/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Done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Structured-output schema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Rule-based compiler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Model client with validation and fallback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16 unit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15968" y="173736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tIns="274320" rIns="274320" bIns="274320"/>
          <a:lstStyle/>
          <a:p>
            <a:pPr algn="l"/>
            <a:r>
              <a:rPr sz="2600" b="1" i="0">
                <a:solidFill>
                  <a:srgbClr val="1B2A3A"/>
                </a:solidFill>
                <a:latin typeface="Cambria"/>
              </a:rPr>
              <a:t>Next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•  Run GenieX + Qwen3 on my laptop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•  Whisper-Base on audio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•  Task creation, Focus Mode, simple UI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•  Screenshot input with Qwen3-VL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91855" y="173736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tIns="274320" rIns="274320" bIns="274320"/>
          <a:lstStyle/>
          <a:p>
            <a:pPr algn="l"/>
            <a:r>
              <a:rPr sz="2600" b="1" i="0">
                <a:solidFill>
                  <a:srgbClr val="1B2A3A"/>
                </a:solidFill>
                <a:latin typeface="Cambria"/>
              </a:rPr>
              <a:t>To measure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•  Task and deadline accuracy on ~30 labelled samples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•  Latency: ASR, first token, end to end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•  CPU vs NPU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1B2A3A"/>
                </a:solidFill>
                <a:latin typeface="Calibri"/>
              </a:rPr>
              <a:t>•  Offline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